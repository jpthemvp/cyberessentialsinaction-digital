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E"/>
          </a:solidFill>
          <a:ln w="12700">
            <a:solidFill>
              <a:srgbClr val="0B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E1628"/>
          </a:solidFill>
          <a:ln w="12700">
            <a:solidFill>
              <a:srgbClr val="0E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029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🛡️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9144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</a:rPr>
              <a:t>DIGITAL · FREE · SCALABLE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56432" y="457200"/>
            <a:ext cx="36576" cy="4251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457200"/>
            <a:ext cx="5166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Essentials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3703320" y="242316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 — 200 Concurrent Players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$0/month Infrastructure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703320" y="3401568"/>
            <a:ext cx="1664208" cy="420624"/>
          </a:xfrm>
          <a:prstGeom prst="roundRect">
            <a:avLst>
              <a:gd name="adj" fmla="val 17391"/>
            </a:avLst>
          </a:prstGeom>
          <a:solidFill>
            <a:srgbClr val="2D1B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340156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⚡  5 Attack Rounds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68112" y="3401568"/>
            <a:ext cx="1664208" cy="420624"/>
          </a:xfrm>
          <a:prstGeom prst="roundRect">
            <a:avLst>
              <a:gd name="adj" fmla="val 17391"/>
            </a:avLst>
          </a:prstGeom>
          <a:solidFill>
            <a:srgbClr val="052E16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8112" y="340156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🎭  3 Quest Scenarios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232904" y="3401568"/>
            <a:ext cx="1664208" cy="420624"/>
          </a:xfrm>
          <a:prstGeom prst="roundRect">
            <a:avLst>
              <a:gd name="adj" fmla="val 17391"/>
            </a:avLst>
          </a:prstGeom>
          <a:solidFill>
            <a:srgbClr val="042D3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2904" y="340156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🎬  Video Simulations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Cyber Security Agency of Singapore — Awareness Programme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6B6D4"/>
                </a:solidFill>
              </a:rPr>
              <a:t>LOAD TEST RESULTS — 200 CONCURRENT PLAYERS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by the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4617720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2D1B00"/>
          </a:solidFill>
          <a:ln w="12700">
            <a:solidFill>
              <a:srgbClr val="926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9E0B"/>
                </a:solidFill>
              </a:rPr>
              <a:t>⚠  At exactly 200 players the host pushes realtime to 201 connections — 1 over the free limit. 199 players fits perfectly. Supabase Pro ($25/mo) = 10,000 concurrent connections.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E2060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41832" y="1188720"/>
            <a:ext cx="1947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41832" y="1719072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Concurrent, real-time game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042D3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22192" y="1188720"/>
            <a:ext cx="1947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822192" y="1719072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realtime event delivery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80760" y="109728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052E16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02552" y="1188720"/>
            <a:ext cx="1947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4,834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702552" y="1719072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ops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session · &lt;1% of free limit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2D1B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41832" y="3017520"/>
            <a:ext cx="1947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41832" y="3547872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3886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infrastructure cost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0" y="292608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A1F40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822192" y="3017520"/>
            <a:ext cx="1947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3822192" y="3547872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337560" y="3886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bandwidth · 2.4% of 100 GB free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80760" y="292608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081218"/>
          </a:solidFill>
          <a:ln w="19050">
            <a:solidFill>
              <a:srgbClr val="67E8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02552" y="3017520"/>
            <a:ext cx="1947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702552" y="3547872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17920" y="3886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egress · 3% of 5 GB/mo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6B6D4"/>
                </a:solidFill>
              </a:rPr>
              <a:t>INFRASTRUCTURE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/ Month — Entirely on Free Tiers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115568"/>
            <a:ext cx="4224528" cy="3767328"/>
          </a:xfrm>
          <a:prstGeom prst="roundRect">
            <a:avLst>
              <a:gd name="adj" fmla="val 3398"/>
            </a:avLst>
          </a:prstGeom>
          <a:solidFill>
            <a:srgbClr val="17213A"/>
          </a:solidFill>
          <a:ln w="19050">
            <a:solidFill>
              <a:srgbClr val="3D3F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207008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Vercel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93776" y="1627632"/>
            <a:ext cx="3822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Next.js Hosting + CDN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3776" y="199339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100 GB/mo bandwidth free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3776" y="2221992"/>
            <a:ext cx="3822192" cy="914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2221992"/>
            <a:ext cx="91733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221992"/>
            <a:ext cx="3822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2C55E"/>
                </a:solidFill>
              </a:rPr>
              <a:t>2.4%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93776" y="250545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100K fn invocations/day free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3776" y="2734056"/>
            <a:ext cx="3822192" cy="914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2734056"/>
            <a:ext cx="15289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734056"/>
            <a:ext cx="3822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2C55E"/>
                </a:solidFill>
              </a:rPr>
              <a:t>0.4%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93776" y="301752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Edge-served pages: ~280ms load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3776" y="3246120"/>
            <a:ext cx="384048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246120"/>
            <a:ext cx="34198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B6D4"/>
                </a:solidFill>
              </a:rPr>
              <a:t>measured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93776" y="352958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Video delivery from /public/ CDN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93776" y="3758184"/>
            <a:ext cx="384048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758184"/>
            <a:ext cx="34198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B6D4"/>
                </a:solidFill>
              </a:rPr>
              <a:t>measured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93776" y="4078224"/>
            <a:ext cx="3822192" cy="566928"/>
          </a:xfrm>
          <a:prstGeom prst="roundRect">
            <a:avLst>
              <a:gd name="adj" fmla="val 12903"/>
            </a:avLst>
          </a:prstGeom>
          <a:solidFill>
            <a:srgbClr val="052E1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4078224"/>
            <a:ext cx="3639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✅  Well within free tier — run hundreds of sessions/month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73168" y="1115568"/>
            <a:ext cx="4224528" cy="3767328"/>
          </a:xfrm>
          <a:prstGeom prst="roundRect">
            <a:avLst>
              <a:gd name="adj" fmla="val 3398"/>
            </a:avLst>
          </a:prstGeom>
          <a:solidFill>
            <a:srgbClr val="17213A"/>
          </a:solidFill>
          <a:ln w="19050">
            <a:solidFill>
              <a:srgbClr val="3D3F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1207008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Supabase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4974336" y="1627632"/>
            <a:ext cx="3822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Postgres + Realtime WebSockets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74336" y="199339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200 concurrent WS connections free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74336" y="2221992"/>
            <a:ext cx="3822192" cy="914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74336" y="2221992"/>
            <a:ext cx="382219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2221992"/>
            <a:ext cx="3822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100.5%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974336" y="250545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500K DB requests/day (use &lt;1%)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74336" y="2734056"/>
            <a:ext cx="3822192" cy="914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74336" y="2734056"/>
            <a:ext cx="37075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2734056"/>
            <a:ext cx="3822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2C55E"/>
                </a:solidFill>
              </a:rPr>
              <a:t>0.97%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4974336" y="301752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5 GB egress/mo (~32 sessions free)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74336" y="3246120"/>
            <a:ext cx="3822192" cy="914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74336" y="3246120"/>
            <a:ext cx="114666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4336" y="3246120"/>
            <a:ext cx="3822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2C55E"/>
                </a:solidFill>
              </a:rPr>
              <a:t>3%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4974336" y="352958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Realtime delivery p50: 82ms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74336" y="3758184"/>
            <a:ext cx="384048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76672" y="3758184"/>
            <a:ext cx="34198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B6D4"/>
                </a:solidFill>
              </a:rPr>
              <a:t>measured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974336" y="4078224"/>
            <a:ext cx="3822192" cy="566928"/>
          </a:xfrm>
          <a:prstGeom prst="roundRect">
            <a:avLst>
              <a:gd name="adj" fmla="val 12903"/>
            </a:avLst>
          </a:prstGeom>
          <a:solidFill>
            <a:srgbClr val="2D1B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65776" y="4078224"/>
            <a:ext cx="3639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⚠  199 players = perfect free fit.  Pro ($25/mo) → 10K connections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E"/>
          </a:solidFill>
          <a:ln w="12700">
            <a:solidFill>
              <a:srgbClr val="0B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6B6D4"/>
                </a:solidFill>
              </a:rPr>
              <a:t>TRANSFORMATION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Cards  →  Digital Platform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69080" cy="3794760"/>
          </a:xfrm>
          <a:prstGeom prst="roundRect">
            <a:avLst>
              <a:gd name="adj" fmla="val 3373"/>
            </a:avLst>
          </a:prstGeom>
          <a:solidFill>
            <a:srgbClr val="1F0505"/>
          </a:solidFill>
          <a:ln w="22860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Physical Cards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Printed game cards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865376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Print runs, lamination, shipping cost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2139696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Max 30–40 players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2340864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Room + table constraints cap capacity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148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✈️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" y="2615184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Facilitator must travel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1248" y="2816352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Heavy kit, logistics overhead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1480" y="3090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3090672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One location only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 hybrid, no webinar, no remote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148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" y="3566160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Update = reprint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376732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Scenario changes trigger new print run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1480" y="4041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404164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Manual scoring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1248" y="4242816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 live leaderboard, no analytics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407408" y="242316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→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800600" y="1051560"/>
            <a:ext cx="4069080" cy="3794760"/>
          </a:xfrm>
          <a:prstGeom prst="roundRect">
            <a:avLst>
              <a:gd name="adj" fmla="val 3373"/>
            </a:avLst>
          </a:prstGeom>
          <a:solidFill>
            <a:srgbClr val="052E16"/>
          </a:solidFill>
          <a:ln w="2286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14300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Digital Platform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937760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📱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67528" y="166420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Any device, any browser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67528" y="1865376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Players join via room code — no app needed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37760" y="2139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👥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67528" y="2139696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199 players free / 200+ on Pro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67528" y="2340864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 physical ceiling on scale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3776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🌏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67528" y="2615184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Run from anywhere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67528" y="2816352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Facilitator logs in remotely, zero kit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37760" y="3090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🎥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67528" y="3090672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Webinar + hybrid ready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67528" y="3291840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Works on Zoom, Teams, in-person, fully online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3776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367528" y="3566160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Instant scenario updates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367528" y="376732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Edit code → deploy in seconds, live for all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37760" y="4041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367528" y="404164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Live leaderboard + roles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367528" y="4242816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Real-time ranking, team view, role-based MCQ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6B6D4"/>
                </a:solidFill>
              </a:rPr>
              <a:t>WHERE TO DEPLOY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— Every Format &amp; Audience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06240" cy="1755648"/>
          </a:xfrm>
          <a:prstGeom prst="roundRect">
            <a:avLst>
              <a:gd name="adj" fmla="val 6250"/>
            </a:avLst>
          </a:prstGeom>
          <a:solidFill>
            <a:srgbClr val="1E2060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161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119786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Webinars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1536192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1E2A4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366F1"/>
                </a:solidFill>
              </a:rPr>
              <a:t>Up to 199 players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live on Zoom or Teams. Players join from home via room code. Host facilitates remotely across Singapore or globally — zero travel, zero kit.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4206240" cy="1755648"/>
          </a:xfrm>
          <a:prstGeom prst="roundRect">
            <a:avLst>
              <a:gd name="adj" fmla="val 6250"/>
            </a:avLst>
          </a:prstGeom>
          <a:solidFill>
            <a:srgbClr val="042D3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161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94960" y="119786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Health Clinics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394960" y="1536192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1E2A4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Multi-room support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format — no printed materials needed. Multiple simultaneous clinic rooms from one deployment. Instant reset between groups.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035808"/>
            <a:ext cx="4206240" cy="1755648"/>
          </a:xfrm>
          <a:prstGeom prst="roundRect">
            <a:avLst>
              <a:gd name="adj" fmla="val 6250"/>
            </a:avLst>
          </a:prstGeom>
          <a:solidFill>
            <a:srgbClr val="052E16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72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0120" y="3154680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SICW &amp; Industry Events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60120" y="3493008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1E2A4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493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Zero logistics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11480" y="3785616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on signage → players join instantly. Works on conference floors, keynote breakouts, and booth activations. No kit to transport or set up.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3035808"/>
            <a:ext cx="4206240" cy="1755648"/>
          </a:xfrm>
          <a:prstGeom prst="roundRect">
            <a:avLst>
              <a:gd name="adj" fmla="val 6250"/>
            </a:avLst>
          </a:prstGeom>
          <a:solidFill>
            <a:srgbClr val="2D1B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72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394960" y="3154680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&amp; SME Training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394960" y="3493008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3493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Self-serve ready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46320" y="3785616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or IT teams self-host. Custom sector, custom difficulty. Live scores gamify the session — maximum engagement at zero marginal cost per run.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754880"/>
            <a:ext cx="8595360" cy="274320"/>
          </a:xfrm>
          <a:prstGeom prst="roundRect">
            <a:avLst>
              <a:gd name="adj" fmla="val 20000"/>
            </a:avLst>
          </a:prstGeom>
          <a:solidFill>
            <a:srgbClr val="1E2060"/>
          </a:solidFill>
          <a:ln w="12700">
            <a:solidFill>
              <a:srgbClr val="3D3F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B4FC"/>
                </a:solidFill>
              </a:rPr>
              <a:t>🚀  github.com/JPthemvp/CyberEssentialsinAction-Digital  ·  Deploy in 5 minutes on Vercel + Supabase free tier  ·  $0 to run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2026-08-25T01:47:01Z</dcterms:created>
  <dcterms:modified xsi:type="dcterms:W3CDTF">2026-08-25T01:47:01Z</dcterms:modified>
</cp:coreProperties>
</file>